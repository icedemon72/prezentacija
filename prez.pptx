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7.jpeg" ContentType="image/jpeg"/>
  <Override PartName="/ppt/media/image2.jpeg" ContentType="image/jpeg"/>
  <Override PartName="/ppt/media/image3.jpeg" ContentType="image/jpeg"/>
  <Override PartName="/ppt/media/image5.png" ContentType="image/png"/>
  <Override PartName="/ppt/media/image4.jpeg" ContentType="image/jpeg"/>
  <Override PartName="/ppt/media/image6.jpeg" ContentType="image/jpeg"/>
  <Override PartName="/ppt/media/image8.jpeg" ContentType="image/jpe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FDC38B-B833-47A3-AD83-DA77FD82FB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129C50-AE8A-40DD-BFCF-4409DE3C9E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73905F-2A4C-4E60-BAB9-2DD887C77D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883270-3E67-4991-B486-0A5A0C26FF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CB0473-7B25-4ED5-9185-1F56F61714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91BA41-5904-4441-A607-6A8C802370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BC64F6-F926-4AF2-9608-D3F9713CE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0E8005-8E36-4F68-8DC1-C9C9B0DB6F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75B45C-0F65-4F80-BCFC-B2DF3B4AC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2473B54-2B3C-427F-B592-5AFBBABE1E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A137FB-758F-4BC4-A5F8-F82DE468C7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B8D535-693A-48B2-BB51-816B53D4BE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7B34C3-B4B1-4129-AF49-0B3BD7A9C6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663F637-3560-4105-A886-9B975CB23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EB1531-54BC-40F2-A8AF-CBCD02FD79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819B4FD-143A-4F12-87A4-F0202EA400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3072EE-8195-48B4-8761-A04AA27745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252275-5D44-4401-80DE-D1803A27B8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66F6DCF-167F-4B45-9DF2-F69D1830CA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AAC4C19-BDC4-47D2-B3E8-91DB39703D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8C662C-32D7-41AC-9841-799E5EA9EA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C07968-1E61-4CE9-BD34-DFBAA5865D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78EF8F5-8111-48B0-A70D-C835A94021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7029DA-9A1C-414F-808C-E0C66B2090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97A0175-43D3-4524-A6CE-E3C4534C36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47031FD-8C08-4E72-A0E2-D6C4B7FB9E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1E27231-37B4-4C62-8062-594F70B0B0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C876144-2CCF-41CD-9738-E07FDC5A3B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F072241-4D2F-4145-A6A1-2C424B8E8E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091AF74-F9C9-40E6-A757-7566EC57B4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6168288-18C0-447C-B9F6-9E7834CDC3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1DABB3-D2E9-4796-8BF5-BB66B4FEBE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A45A8A8-24B3-44A9-85BC-A179DB82FD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42ADBB8-4D96-42C0-9FB9-97B549DD3C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33A02B0-987A-48B7-9345-C4031FBE3F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2805FF1-4D54-4E75-89FE-C467F8DBA5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en-US" sz="27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Source Sans Pro"/>
              </a:rPr>
              <a:t>Second Outline Level</a:t>
            </a:r>
            <a:endParaRPr b="0" lang="en-US" sz="2100" spc="-1" strike="noStrike">
              <a:solidFill>
                <a:srgbClr val="2c3e50"/>
              </a:solidFill>
              <a:latin typeface="Source Sans Pro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c3e50"/>
                </a:solidFill>
                <a:latin typeface="Source Sans Pro"/>
              </a:rPr>
              <a:t>Third Outline Level</a:t>
            </a:r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"/>
          <p:cNvSpPr txBox="1"/>
          <p:nvPr/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fld id="{1200B28F-66DE-4B64-89DA-4ED751FBF91D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50000"/>
              </a:lnSpc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000"/>
          </a:bodyPr>
          <a:p>
            <a:pPr marL="432000" indent="-32400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-32400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-28800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-21600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5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fld id="{DC876FBF-4E53-436A-A9D1-AFDFA4E74A4A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r>
              <a:rPr b="1" lang="en-US" sz="2700" spc="-1" strike="noStrike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marL="432000" indent="-32400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1" marL="864000" indent="-32400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2" marL="1296000" indent="-28800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3" marL="1728000" indent="-21600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4" marL="2160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5" marL="2592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6" marL="3024000" indent="-21600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8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algn="ctr">
              <a:buNone/>
            </a:pPr>
            <a:fld id="{08900537-EF85-4384-8371-619D13FB204F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670" spc="-1" strike="noStrike">
                <a:latin typeface="Arial"/>
              </a:rPr>
              <a:t>Click to edit the title text format</a:t>
            </a:r>
            <a:endParaRPr b="0" lang="en-US" sz="4670" spc="-1" strike="noStrike"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1080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Source Sans Pro"/>
              </a:defRPr>
            </a:lvl1pPr>
          </a:lstStyle>
          <a:p>
            <a:r>
              <a:rPr b="0" lang="en-US" sz="1400" spc="-1" strike="noStrike">
                <a:latin typeface="Source Sans Pro"/>
              </a:rPr>
              <a:t>&lt;date/time&gt;</a:t>
            </a:r>
            <a:endParaRPr b="0" lang="en-US" sz="1400" spc="-1" strike="noStrike">
              <a:latin typeface="Source Sans Pro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Source Sans Pro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Source Sans Pro"/>
              </a:rPr>
              <a:t>&lt;footer&gt;</a:t>
            </a:r>
            <a:endParaRPr b="0" lang="en-US" sz="1400" spc="-1" strike="noStrike">
              <a:latin typeface="Source Sans Pro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Source Sans Pro"/>
              </a:defRPr>
            </a:lvl1pPr>
          </a:lstStyle>
          <a:p>
            <a:pPr algn="r">
              <a:buNone/>
            </a:pPr>
            <a:fld id="{36867BEA-33C0-4D88-8495-4C96FB1F9F5B}" type="slidenum">
              <a:rPr b="0" lang="en-US" sz="1400" spc="-1" strike="noStrike">
                <a:latin typeface="Source Sans Pro"/>
              </a:rPr>
              <a:t>&lt;number&gt;</a:t>
            </a:fld>
            <a:endParaRPr b="0" lang="en-US" sz="1400" spc="-1" strike="noStrike"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50000"/>
              </a:lnSpc>
              <a:buNone/>
            </a:pPr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POJAM INTERNE KOMUNIKACIJE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buNone/>
            </a:pPr>
            <a:r>
              <a:rPr b="0" lang="zxx" sz="2200" spc="-1" strike="noStrike">
                <a:solidFill>
                  <a:srgbClr val="ffffff"/>
                </a:solidFill>
                <a:latin typeface="Source Sans Pro"/>
              </a:rPr>
              <a:t>Jovan Isailović, 2022</a:t>
            </a: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7543800" y="0"/>
            <a:ext cx="2514600" cy="2514600"/>
          </a:xfrm>
          <a:prstGeom prst="rect">
            <a:avLst/>
          </a:prstGeom>
          <a:ln w="10800">
            <a:noFill/>
          </a:ln>
        </p:spPr>
      </p:pic>
    </p:spTree>
  </p:cSld>
  <p:transition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Telo koje je odgovorno za efektivnu komunikaciju medju članovima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Polje interne komunikacije obuhvata i oblasti novinarstva, marketing, ljudske resurse, organizacione nauke, psihologiju, sociologiju i političke nauke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Interni PR se odnosi na zaposlene u organizaciji ili na članove odbora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ŠTA JE INTERNA KOMUNIKACIJA?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5136120" y="1828800"/>
            <a:ext cx="4465080" cy="27432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ŠTA JE INTERNA KOMUNIKACIJA?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Članovi neke organizacije danas su mnogo važniji zbog mogućnosti interakcije jedni sa drugima, kao i sa klijentima, medijima i javnošću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Mogućnost komunikacije se poboljšava razvitkom tehnologije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Interna komunikacija je sastavni deo zdravog odnosa i nivoa zadovoljstva članova ili zaposlenih neke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Ljudi jedne organizacije se moraju osećati da su vredan i koristan deo nje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 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KADA JE POŽELJNO IZVRŠITI KAMPANJU ZA INTERNI PR?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Kada se organizacija pojavi na vestima bilo iz dobrih ili loših razloga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Kada se sprovode veliki projekti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Kada se odaje počast nekom dostignuću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Kada se promovišu interni dogadjaji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Kada se pravi dobrodošlica novim članovima u organizaciju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4927320" y="1348200"/>
            <a:ext cx="3086280" cy="2057400"/>
          </a:xfrm>
          <a:prstGeom prst="rect">
            <a:avLst/>
          </a:prstGeom>
          <a:ln w="10800">
            <a:noFill/>
          </a:ln>
        </p:spPr>
      </p:pic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6654600" y="3405600"/>
            <a:ext cx="2946600" cy="16236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ULOGA INTERNE KOMUNIKACIJE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155920" y="1371600"/>
            <a:ext cx="4567320" cy="38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Stavke na koje utiče interna komunikacija: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Izgradnja morala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Pravljenje dvosmerne ulice u komunikaciji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Komunikacija promena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228600" y="1397520"/>
            <a:ext cx="4567320" cy="180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Uloga interne komunikacije jeste da prikaže neku organizaciju što bolje samim članovima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228600" y="2514600"/>
            <a:ext cx="4800600" cy="27432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ZNAČAJ INTERNE KOMUNIKACIJE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Značaj dobre interne komunikacije se najviše vidi kada je nema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Jedan pogrešan korak može imati ogromne posledice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Članovi mogu ostati bez posla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zxx" sz="2000" spc="-1" strike="noStrike">
                <a:solidFill>
                  <a:srgbClr val="2c3e50"/>
                </a:solidFill>
                <a:latin typeface="Source Sans Pro Semibold"/>
              </a:rPr>
              <a:t>Može se narušiti izgled jedne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5155200" y="1600200"/>
            <a:ext cx="4674600" cy="320040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ŠTA PRUŽA DOBRA INTERNA KOMUNIKACIJA?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456732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Osećaj svrhe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Dozvoljavanje kontrole porukama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Angažovanje članova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Stvaranje druge sfere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Izgradnju organizacione kulture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4572000" y="3265560"/>
            <a:ext cx="3429000" cy="1999440"/>
          </a:xfrm>
          <a:prstGeom prst="rect">
            <a:avLst/>
          </a:prstGeom>
          <a:ln w="10800">
            <a:noFill/>
          </a:ln>
        </p:spPr>
      </p:pic>
      <p:pic>
        <p:nvPicPr>
          <p:cNvPr id="193" name="" descr=""/>
          <p:cNvPicPr/>
          <p:nvPr/>
        </p:nvPicPr>
        <p:blipFill>
          <a:blip r:embed="rId2"/>
          <a:stretch/>
        </p:blipFill>
        <p:spPr>
          <a:xfrm>
            <a:off x="6629400" y="1347840"/>
            <a:ext cx="3200400" cy="243108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6858000" y="2057400"/>
            <a:ext cx="3186000" cy="2629800"/>
          </a:xfrm>
          <a:prstGeom prst="rect">
            <a:avLst/>
          </a:prstGeom>
          <a:ln w="1080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ZAŠTO JE INTERNA KOMUNIKACIJA BITNA?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Jer pomaže pri izgranji organizacione kulture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Interna komunikacija angažuje članove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Pomoću nje se stvaraju druge sfere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Pomaže da se smire članovi u vremenima krize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Kreira kanal za povratne informacije, debatu i diskusiju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1" lang="zxx" sz="2700" spc="-1" strike="noStrike">
                <a:solidFill>
                  <a:srgbClr val="ffffff"/>
                </a:solidFill>
                <a:latin typeface="Source Sans Pro Black"/>
              </a:rPr>
              <a:t>SAŽETAK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Interna komunikacija jeste telo koje je odgovorno z a komunikaciju izmedju članova organizacije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Članovi organizacije se moraju osećati kao da imaju svrhu da bi bili produktivniji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Uloga interne komunikacije jeste da prikaže organizaciju u što boljem svetlu njenim članovima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Značaj interne komunikacije se najviše vidi kada ona izostaje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  <a:p>
            <a:pPr marL="432000" indent="-324000">
              <a:spcAft>
                <a:spcPts val="87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2c3e50"/>
                </a:solidFill>
                <a:latin typeface="Source Sans Pro Semibold"/>
              </a:rPr>
              <a:t>Kreiranje kanala za diskusiju, angažovanje članova, pomaganje pri izgradnji organizacione kulture su samo neki od stavki kojima se bavi interna komunikacija </a:t>
            </a:r>
            <a:endParaRPr b="1" lang="en-US" sz="20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buNone/>
            </a:pPr>
            <a:r>
              <a:rPr b="1" lang="zxx" sz="2700" spc="-1" strike="noStrike">
                <a:solidFill>
                  <a:srgbClr val="2c3e50"/>
                </a:solidFill>
                <a:latin typeface="Source Sans Pro Black"/>
              </a:rPr>
              <a:t>Hvala na pažnji!</a:t>
            </a: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66BB07E-9EE4-4B74-BEF3-640ABBB038B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LibreOffice/7.3.2.2$Windows_X86_64 LibreOffice_project/49f2b1bff42cfccbd8f788c8dc32c1c309559be0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2022-05-04T10:50:51Z</dcterms:created>
  <dc:creator/>
  <dc:description/>
  <dc:language>en-US</dc:language>
  <cp:lastModifiedBy/>
  <dcterms:modified xsi:type="dcterms:W3CDTF">2022-05-05T00:39:54Z</dcterms:modified>
  <cp:revision>18</cp:revision>
  <dc:subject/>
  <dc:title>Midnightblue</dc:title>
</cp:coreProperties>
</file>