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-564" y="-90"/>
      </p:cViewPr>
      <p:guideLst>
        <p:guide orient="horz" pos="1786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9CFBB99-B202-4FA5-A870-91ACB2342ED9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9D64BD-BA8F-4082-8B88-41792BF4E35A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9A91A-7331-4EE0-8FA5-6B89A78591F9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DEC44CB-FEC1-4178-82D0-6F8CF7847E59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D52D0CD-9C08-46A1-BD6D-589F1966490C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E61B274-575B-47F8-9435-6E516C080B6F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8C8093E-4343-4022-92AC-70DCF86B4C98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18FDB0-9EF9-4EB6-BD23-FB0F37D62259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7344556-CCD8-4C22-9831-42636A5D4A0A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F280AB0-B098-4CC4-A716-F3FF6CDFC843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7E19BAF-B6FB-46E7-8967-A54A7D252B68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DAC0D4E-C324-48C4-BE9F-F807B8EC774F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3BDE633-2324-49D3-AB9F-FE5CE53D892C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E21CD33-94B8-4CF7-BA2E-4B672C13A512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4D2FCC5-F5B5-4963-B2BF-91FA62416755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DC2F670-9433-43D4-BEFA-13D75623F4E3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BB73FA5-3612-444E-ADDB-AE3BDFFF1567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1D25031-DAC3-43C6-8FEC-A6A990FB0A37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DBB80AB-0FCE-4F16-89F8-58B9FD04CD3D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AB9DA5BE-7402-413A-BD46-679B5A856512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8EE9459-0646-44D6-94D0-5BA28374B09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C062CE8-869C-442B-B573-D2F25E2E8880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AFCA8CF-8866-4A31-A3E5-84821CDDECC8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CE4BD69-3F6E-40D4-A998-A96074A135CC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5DE5ABF-AC56-4952-B09E-25048904213B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A8678EB-5DA2-4300-9757-9E865590F49D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A9C7414-54C0-4D75-850F-EEAC59892381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9AE3F1D-70B9-484A-ACB5-B7607C889E15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8797CF5-33A4-499C-A889-69E500BEDB89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4D3B755-A5B3-40D1-8F2E-369116880B02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0E3EB2D-F098-4CA7-A788-04780BBD2993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105B726-2693-41F8-9B5C-D4026E27A4B9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214920A-9FFF-4F21-893C-D1BE8ECCE38A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EE648B5-E297-403B-8DF3-218BE143BEAB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0B03E30-2AE0-4305-81BE-D14FEFFEE3D6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500" b="0" strike="noStrike" spc="-1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0BC3100-7B68-48B5-B94E-7FFE1C04E635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294967295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Rectangle 4294967295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2C3E50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C3E50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2C3E50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6" name="Oval 5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fld id="{0E4FE287-01DD-4A0B-AD70-41531C8A8116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Rectangle 44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700" b="1" strike="noStrike" spc="-1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1000"/>
          </a:bodyPr>
          <a:lstStyle/>
          <a:p>
            <a:pPr marL="432000" indent="-324000">
              <a:spcAft>
                <a:spcPts val="65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sldNum" idx="5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fld id="{FA728983-5470-4CC4-B2FE-0B931233F67C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Rectangular Callout 87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en-US" sz="2700" b="1" strike="noStrike" spc="-1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8000"/>
          </a:bodyPr>
          <a:lstStyle/>
          <a:p>
            <a:pPr marL="432000" indent="-324000">
              <a:spcAft>
                <a:spcPts val="65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spcAft>
                <a:spcPts val="850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spcAft>
                <a:spcPts val="63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spcAft>
                <a:spcPts val="425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spcAft>
                <a:spcPts val="213"/>
              </a:spcAft>
            </a:pPr>
            <a:r>
              <a:rPr lang="en-US" sz="1500" b="0" strike="noStrike" spc="-1">
                <a:solidFill>
                  <a:srgbClr val="FFFFFF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91" name="PlaceHolder 3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&lt;date/time&gt;</a:t>
            </a:r>
          </a:p>
        </p:txBody>
      </p:sp>
      <p:sp>
        <p:nvSpPr>
          <p:cNvPr id="92" name="PlaceHolder 4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t>&lt;footer&gt;</a:t>
            </a:r>
          </a:p>
        </p:txBody>
      </p:sp>
      <p:sp>
        <p:nvSpPr>
          <p:cNvPr id="93" name="PlaceHolder 5"/>
          <p:cNvSpPr>
            <a:spLocks noGrp="1"/>
          </p:cNvSpPr>
          <p:nvPr>
            <p:ph type="sldNum" idx="8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800" b="1" strike="noStrike" spc="-1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fld id="{F0D40350-6F68-4A1A-BFB2-79B92123010F}" type="slidenum">
              <a:rPr lang="en-US" sz="1800" b="1" strike="noStrike" spc="-1">
                <a:solidFill>
                  <a:srgbClr val="FFFFFF"/>
                </a:solidFill>
                <a:latin typeface="Source Sans Pro Black"/>
              </a:rPr>
              <a:pPr algn="ctr">
                <a:buNone/>
              </a:pPr>
              <a:t>‹#›</a:t>
            </a:fld>
            <a:endParaRPr lang="en-US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67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080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Source Sans Pro"/>
              </a:defRPr>
            </a:lvl1pPr>
          </a:lstStyle>
          <a:p>
            <a:r>
              <a:rPr lang="en-US" sz="1400" b="0" strike="noStrike" spc="-1">
                <a:latin typeface="Source Sans Pro"/>
              </a:rPr>
              <a:t>&lt;date/time&gt;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Source Sans Pro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Source Sans Pro"/>
              </a:rPr>
              <a:t>&lt;footer&gt;</a:t>
            </a:r>
          </a:p>
        </p:txBody>
      </p:sp>
      <p:sp>
        <p:nvSpPr>
          <p:cNvPr id="134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Source Sans Pro"/>
              </a:defRPr>
            </a:lvl1pPr>
          </a:lstStyle>
          <a:p>
            <a:pPr algn="r">
              <a:buNone/>
            </a:pPr>
            <a:fld id="{8E43147B-788E-43C1-879E-4532AC5CA31D}" type="slidenum">
              <a:rPr lang="en-US" sz="1400" b="0" strike="noStrike" spc="-1">
                <a:latin typeface="Source Sans Pro"/>
              </a:rPr>
              <a:pPr algn="r">
                <a:buNone/>
              </a:pPr>
              <a:t>‹#›</a:t>
            </a:fld>
            <a:endParaRPr lang="en-US" sz="1400" b="0" strike="noStrike" spc="-1">
              <a:latin typeface="Source Sans Pr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60000" y="2549520"/>
            <a:ext cx="9360000" cy="12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OBRADA FENOMENA INTERNIH I EKSTERNIH ODNOSA SA JAVNOŠĆU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</a:pPr>
            <a:r>
              <a:rPr lang="x-none" sz="2200" b="0" strike="noStrike" spc="-1">
                <a:solidFill>
                  <a:srgbClr val="FFFFFF"/>
                </a:solidFill>
                <a:latin typeface="Source Sans Pro"/>
              </a:rPr>
              <a:t>Jovan Isailović 101/2020</a:t>
            </a: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  <a:p>
            <a:pPr algn="r">
              <a:buNone/>
            </a:pPr>
            <a:r>
              <a:rPr lang="x-none" sz="2200" b="0" strike="noStrike" spc="-1">
                <a:solidFill>
                  <a:srgbClr val="FFFFFF"/>
                </a:solidFill>
                <a:latin typeface="Source Sans Pro"/>
              </a:rPr>
              <a:t>Kosovska Mitrovica, 2022</a:t>
            </a:r>
            <a:endParaRPr lang="en-US" sz="2200" b="0" strike="noStrike" spc="-1">
              <a:solidFill>
                <a:srgbClr val="FFFFFF"/>
              </a:solidFill>
              <a:latin typeface="Source Sans Pro"/>
            </a:endParaRPr>
          </a:p>
        </p:txBody>
      </p:sp>
      <p:pic>
        <p:nvPicPr>
          <p:cNvPr id="173" name="Picture 172"/>
          <p:cNvPicPr/>
          <p:nvPr/>
        </p:nvPicPr>
        <p:blipFill>
          <a:blip r:embed="rId2"/>
          <a:stretch/>
        </p:blipFill>
        <p:spPr>
          <a:xfrm>
            <a:off x="7543800" y="0"/>
            <a:ext cx="2514600" cy="25146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700" b="1" strike="noStrike" spc="-1" dirty="0">
                <a:solidFill>
                  <a:srgbClr val="FFFFFF"/>
                </a:solidFill>
                <a:latin typeface="Source Sans Pro Black"/>
              </a:rPr>
              <a:t>SADRŽAJ</a:t>
            </a: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ŠTA SU ODNOSI SA JAVNOŠĆU?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1500" b="1" strike="noStrike" spc="-1">
                <a:solidFill>
                  <a:srgbClr val="2C3E50"/>
                </a:solidFill>
                <a:latin typeface="Source Sans Pro Semibold"/>
              </a:rPr>
              <a:t>ŠTA JE INTERNA KOMUNIKACIJA?</a:t>
            </a: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ULOGA INTERNE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STRATEGIJA INTERNE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ZNAČAJ INTERNE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KADA JE POŽELJNO IZVRŠITI KAMPANJU ZA INTERNI PR?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ŠTA PRUŽA DOBRA INTERNA KOMUNIKACIJA?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ŠTA JE EKSTERNA KOMUNIKACIJA?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ISTORIJA EKSTERNE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ŠTA JE JAVNO MNJENJE?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PROMENA SREDSTAVA ZA JAVNO MNJENJE KROZ GODINE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ULOGA EKSTERNE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STRATEGIJA EKSTERNE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ANALIZIRANJE TRENUTNE SITUACIJE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ZNAČAJ EKSTERNE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ŠTA DOBRA EKSTERNA KOMUNIKACIJA PRUŽA?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RAZLIKE INTERNE I EKSTERNE KOMUNIKACIJE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1500" b="1" strike="noStrike" spc="-1">
                <a:solidFill>
                  <a:srgbClr val="2C3E50"/>
                </a:solidFill>
                <a:latin typeface="Source Sans Pro Semibold"/>
              </a:rPr>
              <a:t>PREDNOSTI UJEDINJENE INTERNE I EKSTERNE KOMUNIKACIJE </a:t>
            </a:r>
            <a:endParaRPr lang="en-US" sz="15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SU ODNOSI SA JAVNOŠĆU?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Definisani su kao </a:t>
            </a:r>
            <a:r>
              <a:rPr lang="x-none" sz="2000" b="1" i="1" strike="noStrike" spc="-1">
                <a:solidFill>
                  <a:srgbClr val="2C3E50"/>
                </a:solidFill>
                <a:latin typeface="Source Sans Pro Semibold"/>
              </a:rPr>
              <a:t>“Strateški komunikacioni proces koji gradi zajedničke korisne veze izmedju organizacija i njihovih javnosti”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Razvijanjem tehnologije razvija se i mogućnost komuniciranja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Da bi neka organizacija, pokret ili stranka imala dobru sliku moraju se dve stavke usaglasiti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Te dve stavke su </a:t>
            </a: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interna</a:t>
            </a: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i </a:t>
            </a: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eksterna</a:t>
            </a: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komunikacija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Dodirivanje interne i eksterne komunikacije jeste od presudnog značaja prilikom kreiranja pozitivne organizacione kulture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Telo koje je odgovorno za efektivnu komunikaciju medju članovima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Polje interne komunikacije obuhvata i oblasti novinarstva, marketing, ljudske resurse, organizacione nauke, psihologiju, sociologiju i političke nauke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Interni PR se odnosi na zaposlene u organizaciji ili na članove odbora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JE INTERNA KOMUNIKACIJA?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181" name="Picture 180"/>
          <p:cNvPicPr/>
          <p:nvPr/>
        </p:nvPicPr>
        <p:blipFill>
          <a:blip r:embed="rId2"/>
          <a:stretch/>
        </p:blipFill>
        <p:spPr>
          <a:xfrm>
            <a:off x="5136120" y="1828800"/>
            <a:ext cx="4465080" cy="27432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JE INTERNA KOMUNIKACIJA?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Članovi neke organizacije danas su mnogo važniji zbog mogućnosti interakcije jedni sa drugima, kao i sa klijentima, medijima i javnošću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Mogućnost komunikacije se poboljšava razvitkom tehnologije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Interna komunikacija je sastavni deo zdravog odnosa i nivoa zadovoljstva članova ili zaposlenih neke organizacije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Ljudi jedne organizacije se moraju osećati da su vredan i koristan deo nje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ULOGA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155920" y="1371600"/>
            <a:ext cx="4567320" cy="389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Stavke na koje utiče interna komunikacija: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Izgradnja morala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Pravljenje dvosmerne ulice u komunikaciji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Komunikacija promena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228600" y="139752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Uloga interne komunikacije jeste da prikaže neku organizaciju što bolje samim članovima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87" name="Picture 186"/>
          <p:cNvPicPr/>
          <p:nvPr/>
        </p:nvPicPr>
        <p:blipFill>
          <a:blip r:embed="rId2"/>
          <a:stretch/>
        </p:blipFill>
        <p:spPr>
          <a:xfrm>
            <a:off x="228600" y="2514600"/>
            <a:ext cx="4800600" cy="27432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ULOGA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Izgradnja morala</a:t>
            </a: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jeste jedna od najvažnijih uloga interne komunikacije, srećan i zadovoljan član neke organizacije jeste i produktivan član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 algn="just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Pravljenje dvosmerne ulice</a:t>
            </a: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je veza izmedju vrha organizacije sa njenim članovima, koja naravno ide u oba smera. Korišćenjem ovakve komunikacije daje se do znanja njenim članovima da je njihovo mišljenje bitno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 algn="just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Komunikacija promena</a:t>
            </a: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 jeste komuniciranje sa članovima o nekim važnijim promenama ili dešavanjima, kako bi svi članovi mogli biti u mogučnosti da znaju šta se trenutno dešava u samoj organizaciji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STRATEGIJA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Najviše se bazira na principu koji se zove </a:t>
            </a:r>
            <a:r>
              <a:rPr lang="x-none" sz="2000" b="1" strike="noStrike" spc="-1" smtClean="0">
                <a:solidFill>
                  <a:srgbClr val="2C3E50"/>
                </a:solidFill>
                <a:latin typeface="Source Sans Pro Semibold"/>
              </a:rPr>
              <a:t>DO-FEEL-KNOW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Strategija se najviše ogleda u tabanju terena i pripreme članova na promenu rada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Gleda se akcija koju je potrebno preduzeti da bi se neka promena lakše prihvatila</a:t>
            </a:r>
            <a:endParaRPr lang="en-US" sz="2000" b="1" strike="noStrike" spc="-1" dirty="0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92" name="Picture 191"/>
          <p:cNvPicPr/>
          <p:nvPr/>
        </p:nvPicPr>
        <p:blipFill>
          <a:blip r:embed="rId2"/>
          <a:stretch/>
        </p:blipFill>
        <p:spPr>
          <a:xfrm>
            <a:off x="5155560" y="2444760"/>
            <a:ext cx="4567320" cy="186012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STRATEGIJA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Moraju se uzeti u obzir neke stavke prilikom biranja strategije, te stavke su: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Ciljna grupa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Poruka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Pristup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Procena i praćenje rezultata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Vremenski opseg i resursi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STRATEGIJA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Prilikom pravljenja strategije interne komunikacije, moraju se izabrati sredstva gde će ta strategija delovati, pa tako imamo: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Elektronski način (e-mail, internet, blogovi...)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Štampani način (magazini, brošure, kartice...)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Lice u lice način (razgovori, forumi, ručkovi...)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Razgovor na poslu (oglasne table, TV ekrani...)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STRATEGIJA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Mora se obratiti pažnja na sledeće: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Mobilna funkcionalnost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Vizuelne alatke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Brojevi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2100" b="0" strike="noStrike" spc="-1">
                <a:solidFill>
                  <a:srgbClr val="2C3E50"/>
                </a:solidFill>
                <a:latin typeface="Source Sans Pro"/>
              </a:rPr>
              <a:t>Mišljenje članova</a:t>
            </a:r>
            <a:endParaRPr lang="en-US" sz="2100" b="0" strike="noStrike" spc="-1">
              <a:solidFill>
                <a:srgbClr val="2C3E50"/>
              </a:solidFill>
              <a:latin typeface="Source Sans Pro"/>
            </a:endParaRPr>
          </a:p>
        </p:txBody>
      </p:sp>
      <p:pic>
        <p:nvPicPr>
          <p:cNvPr id="199" name="Picture 198"/>
          <p:cNvPicPr/>
          <p:nvPr/>
        </p:nvPicPr>
        <p:blipFill>
          <a:blip r:embed="rId2"/>
          <a:stretch/>
        </p:blipFill>
        <p:spPr>
          <a:xfrm rot="639000">
            <a:off x="7278480" y="1897920"/>
            <a:ext cx="2174760" cy="1802880"/>
          </a:xfrm>
          <a:prstGeom prst="rect">
            <a:avLst/>
          </a:prstGeom>
          <a:ln w="10800">
            <a:noFill/>
          </a:ln>
        </p:spPr>
      </p:pic>
      <p:pic>
        <p:nvPicPr>
          <p:cNvPr id="200" name="Picture 199"/>
          <p:cNvPicPr/>
          <p:nvPr/>
        </p:nvPicPr>
        <p:blipFill>
          <a:blip r:embed="rId3"/>
          <a:stretch/>
        </p:blipFill>
        <p:spPr>
          <a:xfrm rot="21355800">
            <a:off x="3946320" y="3301560"/>
            <a:ext cx="2928600" cy="180288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ZNAČAJ INTERNE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Značaj dobre interne komunikacije se najviše vidi kada je nema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Jedan pogrešan korak može imati ogromne posledice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Članovi mogu ostati bez posla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Može se narušiti izgled jedne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03" name="Picture 202"/>
          <p:cNvPicPr/>
          <p:nvPr/>
        </p:nvPicPr>
        <p:blipFill>
          <a:blip r:embed="rId2"/>
          <a:stretch/>
        </p:blipFill>
        <p:spPr>
          <a:xfrm>
            <a:off x="5155200" y="1600200"/>
            <a:ext cx="4674600" cy="32004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KADA JE POŽELJNO IZVRŠITI KAMPANJU ZA INTERNI PR?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Kada se organizacija pojavi na vestima bilo iz dobrih ili loših razloga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Kada se sprovode veliki projekti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Kada se odaje počast nekom dostignuću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Kada se promovišu interni dogadjaji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Kada se pravi dobrodošlica novim članovima u organizaciju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06" name="Picture 205"/>
          <p:cNvPicPr/>
          <p:nvPr/>
        </p:nvPicPr>
        <p:blipFill>
          <a:blip r:embed="rId2"/>
          <a:stretch/>
        </p:blipFill>
        <p:spPr>
          <a:xfrm>
            <a:off x="4927320" y="1348200"/>
            <a:ext cx="3086280" cy="2057400"/>
          </a:xfrm>
          <a:prstGeom prst="rect">
            <a:avLst/>
          </a:prstGeom>
          <a:ln w="10800">
            <a:noFill/>
          </a:ln>
        </p:spPr>
      </p:pic>
      <p:pic>
        <p:nvPicPr>
          <p:cNvPr id="207" name="Picture 206"/>
          <p:cNvPicPr/>
          <p:nvPr/>
        </p:nvPicPr>
        <p:blipFill>
          <a:blip r:embed="rId3" cstate="print"/>
          <a:stretch/>
        </p:blipFill>
        <p:spPr>
          <a:xfrm>
            <a:off x="6654600" y="3405600"/>
            <a:ext cx="2946600" cy="16236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PRUŽA DOBRA INTERNA KOMUNIKACIJA?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Osećaj svrhe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Dozvoljavanje kontrole porukama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Angažovanje članova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Stvaranje druge sfere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Izgradnju organizacione kulture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10" name="Picture 209"/>
          <p:cNvPicPr/>
          <p:nvPr/>
        </p:nvPicPr>
        <p:blipFill>
          <a:blip r:embed="rId2"/>
          <a:stretch/>
        </p:blipFill>
        <p:spPr>
          <a:xfrm>
            <a:off x="4572000" y="3265560"/>
            <a:ext cx="3429000" cy="1999440"/>
          </a:xfrm>
          <a:prstGeom prst="rect">
            <a:avLst/>
          </a:prstGeom>
          <a:ln w="10800">
            <a:noFill/>
          </a:ln>
        </p:spPr>
      </p:pic>
      <p:pic>
        <p:nvPicPr>
          <p:cNvPr id="211" name="Picture 210"/>
          <p:cNvPicPr/>
          <p:nvPr/>
        </p:nvPicPr>
        <p:blipFill>
          <a:blip r:embed="rId3"/>
          <a:stretch/>
        </p:blipFill>
        <p:spPr>
          <a:xfrm>
            <a:off x="6629400" y="1347840"/>
            <a:ext cx="3200400" cy="243108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JE EKSTERNA KOMUNIKACIJA?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Eksterna komunikacija jeste proces prenošenja ciljeva jedne organizacije sa njenim okruženjem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Okruženje sačinjavaju ciljna grupa, političke figure, klijenti itd.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Originalna primena bila je u ratovima, ali danas se koristi i u mnogim drugim sferama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Definiše se kao </a:t>
            </a:r>
            <a:r>
              <a:rPr lang="x-none" sz="2000" b="1" i="1" strike="noStrike" spc="-1">
                <a:solidFill>
                  <a:srgbClr val="2C3E50"/>
                </a:solidFill>
                <a:latin typeface="Source Sans Pro Semibold"/>
              </a:rPr>
              <a:t>“Prenos informacija neke organizacije do eksterne publike ili, alternativno, medijski izlaz”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Eksterni PR oblikuje izgled neke organizacije što je bolje i pogodnije moguće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JE EKSTERNA KOMUNIKACIJA?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Glavni cilj eksterne komunikacije jeste održavanje ugleda, reputacije i imidža benda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Eksternom komunikacijom moguće je menjati javno mnjenje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Korišćenjem mas-medija moguće je uticati na, ne samo pojedinca, već i na javno mnjenje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16" name="Picture 215"/>
          <p:cNvPicPr/>
          <p:nvPr/>
        </p:nvPicPr>
        <p:blipFill>
          <a:blip r:embed="rId2"/>
          <a:stretch/>
        </p:blipFill>
        <p:spPr>
          <a:xfrm>
            <a:off x="5299560" y="1490040"/>
            <a:ext cx="4288320" cy="353916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ISTORIJA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Pojavom sredstava za masovnu komunikaciju početkom 20. veka stupa na snagu važnost dobre slike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Prvobitna primena eksternih odnosa sa javnošću bila je u ratne svrhe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Nakon Drugog Svetskog Rata uvideo se značaj dobrog eksternog PR-a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U drugom delu 20. veka odnosi sa javnošću ušli su u jednu sferu profesionalnog razvitka, tada su počeli da se izdaju PR magazini, asocijacije za trgovinu i internacionalne PR agencije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19" name="Picture 218"/>
          <p:cNvPicPr/>
          <p:nvPr/>
        </p:nvPicPr>
        <p:blipFill>
          <a:blip r:embed="rId2"/>
          <a:stretch/>
        </p:blipFill>
        <p:spPr>
          <a:xfrm rot="21207000">
            <a:off x="7618680" y="3866400"/>
            <a:ext cx="1915200" cy="1285920"/>
          </a:xfrm>
          <a:prstGeom prst="rect">
            <a:avLst/>
          </a:prstGeom>
          <a:ln w="10800">
            <a:noFill/>
          </a:ln>
        </p:spPr>
      </p:pic>
      <p:pic>
        <p:nvPicPr>
          <p:cNvPr id="220" name="Picture 219"/>
          <p:cNvPicPr/>
          <p:nvPr/>
        </p:nvPicPr>
        <p:blipFill>
          <a:blip r:embed="rId3" cstate="print"/>
          <a:stretch/>
        </p:blipFill>
        <p:spPr>
          <a:xfrm rot="1030800">
            <a:off x="8793720" y="1972080"/>
            <a:ext cx="1143000" cy="1143000"/>
          </a:xfrm>
          <a:prstGeom prst="rect">
            <a:avLst/>
          </a:prstGeom>
          <a:ln w="10800">
            <a:noFill/>
          </a:ln>
        </p:spPr>
      </p:pic>
      <p:pic>
        <p:nvPicPr>
          <p:cNvPr id="221" name="Picture 220"/>
          <p:cNvPicPr/>
          <p:nvPr/>
        </p:nvPicPr>
        <p:blipFill>
          <a:blip r:embed="rId4"/>
          <a:stretch/>
        </p:blipFill>
        <p:spPr>
          <a:xfrm rot="370800">
            <a:off x="4158000" y="4199400"/>
            <a:ext cx="1623600" cy="89784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JE JAVNO MNJENJE?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Javno mnjenje je izraz koji se koristi od 16. veka u Francuskoj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To je kolektivno mišljenje o nekoj odredjenoj temi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Može se reći da je javno mnjenje pogled naroda na stvari koje ih dotiču i utiču na njih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Osnovno sredstvo su mas-mediji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515592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Formiranje javnog mnjenja se vrši tako što se prvo gledaju agende ili korišćenjem teorije okvira (kolekcijom dogadjaja i stereotipa na koje se pojedinac oslanja)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Agenda diktira da li će medijske, na primer, kuće uopšte preneti vesti, tj. da li je nešto vredno prenosa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PROMENA SREDSTAVA ZA JAVNO MNJENJE KROZ GODINE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Sa razvitkom tehnologije menjaju se i poboljšavaju sredstva za menjanje javnog mnjenja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Pre pronalaska radija  koristile su se novine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Od 20ih godina prošlog veka do 50ih koristio se upravo radio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Od 50ih godina 20. veka do početka 21. veka glavno sredstvo bila je televizija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Od početka 20. veka do danas koristi se najviše internet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27" name="Picture 226"/>
          <p:cNvPicPr/>
          <p:nvPr/>
        </p:nvPicPr>
        <p:blipFill>
          <a:blip r:embed="rId2"/>
          <a:stretch/>
        </p:blipFill>
        <p:spPr>
          <a:xfrm>
            <a:off x="5155560" y="2035440"/>
            <a:ext cx="4567320" cy="267912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ULOGA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Eksterni odnosi sa javnošću imaju ulogu u nekoliko važnih oblasti i to: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1900" b="0" strike="noStrike" spc="-1">
                <a:solidFill>
                  <a:srgbClr val="2C3E50"/>
                </a:solidFill>
                <a:latin typeface="Source Sans Pro"/>
              </a:rPr>
              <a:t>Uloga u odnosima sa investitorima (pisanje mesečnog izveštaja, sastanci, konferencije itd)</a:t>
            </a:r>
            <a:endParaRPr lang="en-US" sz="19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1900" b="0" strike="noStrike" spc="-1">
                <a:solidFill>
                  <a:srgbClr val="2C3E50"/>
                </a:solidFill>
                <a:latin typeface="Source Sans Pro"/>
              </a:rPr>
              <a:t>Uloga u odnosima sa medijima (tačne informacije, intervjui, slike, grafike, priče)</a:t>
            </a:r>
            <a:endParaRPr lang="en-US" sz="19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1900" b="0" strike="noStrike" spc="-1">
                <a:solidFill>
                  <a:srgbClr val="2C3E50"/>
                </a:solidFill>
                <a:latin typeface="Source Sans Pro"/>
              </a:rPr>
              <a:t>Uloga u odnosima sa vladom  (briga o državnim, opštinskim i lokalnim pitanjima)</a:t>
            </a:r>
            <a:endParaRPr lang="en-US" sz="19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1900" b="0" strike="noStrike" spc="-1">
                <a:solidFill>
                  <a:srgbClr val="2C3E50"/>
                </a:solidFill>
                <a:latin typeface="Source Sans Pro"/>
              </a:rPr>
              <a:t>Uloga u istraživanju (lice-u-lice intervjui, izolovanje ciljne grupe, ankete)</a:t>
            </a:r>
            <a:endParaRPr lang="en-US" sz="1900" b="0" strike="noStrike" spc="-1">
              <a:solidFill>
                <a:srgbClr val="2C3E50"/>
              </a:solidFill>
              <a:latin typeface="Source Sans Pro"/>
            </a:endParaRPr>
          </a:p>
          <a:p>
            <a:pPr marL="864000" lvl="1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x-none" sz="1900" b="0" strike="noStrike" spc="-1">
                <a:solidFill>
                  <a:srgbClr val="2C3E50"/>
                </a:solidFill>
                <a:latin typeface="Source Sans Pro"/>
              </a:rPr>
              <a:t>Uloga u faktoru uticaja i efikasnosti troškova (medijske kampanje i influenseri)</a:t>
            </a:r>
            <a:endParaRPr lang="en-US" sz="1900" b="0" strike="noStrike" spc="-1">
              <a:solidFill>
                <a:srgbClr val="2C3E50"/>
              </a:solidFill>
              <a:latin typeface="Source Sans Pro"/>
            </a:endParaRPr>
          </a:p>
        </p:txBody>
      </p:sp>
    </p:spTree>
  </p:cSld>
  <p:clrMapOvr>
    <a:masterClrMapping/>
  </p:clrMapOvr>
  <p:transition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STRATEGIJA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6498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Eksterna komunikacija se odnosi na širu javnost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Definiše se misija (vodilja strategije), cilj (šta je potrebno postići strategijom) i publika (fokus je na više grupa)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Analizira se i trenutna situacija (PEST faktori, SWOT faktori i  konkurencija)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Uspostavlja se ton glasa, bira se prava platforma i postavlja se način za merenje uspeha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32" name="Picture 231"/>
          <p:cNvPicPr/>
          <p:nvPr/>
        </p:nvPicPr>
        <p:blipFill>
          <a:blip r:embed="rId2"/>
          <a:stretch/>
        </p:blipFill>
        <p:spPr>
          <a:xfrm>
            <a:off x="6858000" y="1534320"/>
            <a:ext cx="2865240" cy="1486080"/>
          </a:xfrm>
          <a:prstGeom prst="rect">
            <a:avLst/>
          </a:prstGeom>
          <a:ln w="10800">
            <a:noFill/>
          </a:ln>
        </p:spPr>
      </p:pic>
      <p:pic>
        <p:nvPicPr>
          <p:cNvPr id="233" name="Picture 232"/>
          <p:cNvPicPr/>
          <p:nvPr/>
        </p:nvPicPr>
        <p:blipFill>
          <a:blip r:embed="rId3"/>
          <a:stretch/>
        </p:blipFill>
        <p:spPr>
          <a:xfrm>
            <a:off x="6858000" y="3313440"/>
            <a:ext cx="2865240" cy="157176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ANALIZIRANJE TRENUTNE SITUACIJE 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58122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PEST faktori su politički, ekonomski i tehnološki elementi jedne organizacije koji mogu da utiču na sam njen rad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SWOT faktori su  strenghts, weaknesses, opportunities i threats, tj. jače strane, slabosti, prilike i pretnje; gleda se kako se mogu izraziti jače strane, umanjiti slabe da bi se iskoristilo što više prilika da se pretnje pretvore u nove prilike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Konkurencija se gleda što objektivnije moguće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36" name="Picture 235"/>
          <p:cNvPicPr/>
          <p:nvPr/>
        </p:nvPicPr>
        <p:blipFill>
          <a:blip r:embed="rId2"/>
          <a:stretch/>
        </p:blipFill>
        <p:spPr>
          <a:xfrm>
            <a:off x="6400800" y="1600200"/>
            <a:ext cx="3200400" cy="320040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ZNAČAJ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Širenje vesti (direktni mailovi, finansijski zapisi, štampa i sajtovi za novosti)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Definisanje javne percepcije (novosti, mediji i konferencije za štampu)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Pronalazak klijenata (web sajtovi, društvene mreže i blogovi)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Skupocenost ukoliko se loše izvrši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u="sng" strike="noStrike" spc="-1">
                <a:solidFill>
                  <a:srgbClr val="2C3E50"/>
                </a:solidFill>
                <a:uFillTx/>
                <a:latin typeface="Source Sans Pro Semibold"/>
              </a:rPr>
              <a:t>Jedan pogrešno napisan članak ili citat može narušiti čitav plan eksternih odnosa sa javnošću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ŠTA DOBRA EKSTERNA KOMUNIKACIJA PRUŽA?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Dobra eksterna komunikacija pravi odličnu i pogodnu sliku jedne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Informacije i detalji o nekim proizvodima se dostavljaju klijentima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Promoviše i reklamira organizaciju, kao i njene usluge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Smanjuje rizik grešaka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241" name="Picture 240"/>
          <p:cNvPicPr/>
          <p:nvPr/>
        </p:nvPicPr>
        <p:blipFill>
          <a:blip r:embed="rId2"/>
          <a:stretch/>
        </p:blipFill>
        <p:spPr>
          <a:xfrm>
            <a:off x="5155560" y="1810080"/>
            <a:ext cx="4567320" cy="312984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p:transition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RAZLIKE INTERNE I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graphicFrame>
        <p:nvGraphicFramePr>
          <p:cNvPr id="243" name="Table 242"/>
          <p:cNvGraphicFramePr/>
          <p:nvPr/>
        </p:nvGraphicFramePr>
        <p:xfrm>
          <a:off x="360000" y="1585440"/>
          <a:ext cx="9360000" cy="3579120"/>
        </p:xfrm>
        <a:graphic>
          <a:graphicData uri="http://schemas.openxmlformats.org/drawingml/2006/table">
            <a:tbl>
              <a:tblPr/>
              <a:tblGrid>
                <a:gridCol w="3119760"/>
                <a:gridCol w="3119760"/>
                <a:gridCol w="3120480"/>
              </a:tblGrid>
              <a:tr h="3787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FFFFFF"/>
                          </a:solidFill>
                          <a:latin typeface="Source Sans Pro"/>
                        </a:rPr>
                        <a:t>Interna Komunikacija</a:t>
                      </a:r>
                      <a:endParaRPr lang="en-US" sz="1800" b="0" strike="noStrike" spc="-1">
                        <a:solidFill>
                          <a:srgbClr val="FFFFFF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FFFFFF"/>
                          </a:solidFill>
                          <a:latin typeface="Source Sans Pro"/>
                        </a:rPr>
                        <a:t>Eksterna komunikacija</a:t>
                      </a:r>
                      <a:endParaRPr lang="en-US" sz="1800" b="0" strike="noStrike" spc="-1">
                        <a:solidFill>
                          <a:srgbClr val="FFFFFF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99040">
                <a:tc>
                  <a:txBody>
                    <a:bodyPr/>
                    <a:lstStyle/>
                    <a:p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Publika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Na drugom kraju su članovi organizacije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Na drugom kraju su klijenti, investitori i javnost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8720">
                <a:tc>
                  <a:txBody>
                    <a:bodyPr/>
                    <a:lstStyle/>
                    <a:p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Cilj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Prenos informacija izmedju različitih odseka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Prenos informacije do stranki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720">
                <a:tc>
                  <a:txBody>
                    <a:bodyPr/>
                    <a:lstStyle/>
                    <a:p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Učestanost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Učestanija od eksterne komunikacije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Manje učestanija od interne komunikacije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8720">
                <a:tc>
                  <a:txBody>
                    <a:bodyPr/>
                    <a:lstStyle/>
                    <a:p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Tok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Teče unutar neke organizacije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Teče u samoj sredini neke organizacije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720">
                <a:tc>
                  <a:txBody>
                    <a:bodyPr/>
                    <a:lstStyle/>
                    <a:p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Sredstva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Agende, seminari, konferencije, chat-ovi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x-none" sz="1800" b="0" strike="noStrike" spc="-1">
                          <a:solidFill>
                            <a:srgbClr val="2C3E50"/>
                          </a:solidFill>
                          <a:latin typeface="Source Sans Pro"/>
                        </a:rPr>
                        <a:t>Onlajn mediji, štampa, televizija, radio</a:t>
                      </a:r>
                      <a:endParaRPr lang="en-US" sz="1800" b="0" strike="noStrike" spc="-1">
                        <a:solidFill>
                          <a:srgbClr val="2C3E50"/>
                        </a:solidFill>
                        <a:latin typeface="Source Sans Pro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PREDNOSTI UJEDINJENE INTERNE I EKSTERNE KOMUNIKACIJE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Bolja strateška pozicija (neuskladjenost interne i eksterne dovodi do nemogućnosti postavljanja strateških ciljeva)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Usaglašavanje internih i eksternih poruka (članovi ne smeju saznati nešto o svojoj organizaciji iz spoljašnjih izvora)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Poverenje medju klijentima i članovima (proces izgradnja poverenja je primarni cilj)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Pravljenja osećaja timskog rada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x-none" sz="2700" b="1" strike="noStrike" spc="-1">
                <a:solidFill>
                  <a:srgbClr val="FFFFFF"/>
                </a:solidFill>
                <a:latin typeface="Source Sans Pro Black"/>
              </a:rPr>
              <a:t>REZIME</a:t>
            </a:r>
            <a:endParaRPr lang="en-US" sz="27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Interni i eksterni odnosi su dva bitna i, danas, su neizostavne stavke jedne organizacije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Interni odnosi sa javnošću svoju delatnost baziraju na komunikaciji izmedju članova organizacije, uloga ovih odnosa jeste izgradnja morala i pravljenje dvosmerne ulice u komunikaciji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x-none" sz="2000" b="1" strike="noStrike" spc="-1">
                <a:solidFill>
                  <a:srgbClr val="2C3E50"/>
                </a:solidFill>
                <a:latin typeface="Source Sans Pro Semibold"/>
              </a:rPr>
              <a:t>Eksterni odnosi sa javnošću se baziraju na komunikaciji van same organizacije koristeći sredstva za komunikaciju koja su potrebna zavisno od ciljne grupe, uloga se ogleda u poboljšanju odonsa sa investitorima, medijima i vladom</a:t>
            </a:r>
            <a:endParaRPr lang="en-US" sz="2000" b="1" strike="noStrike" spc="-1">
              <a:solidFill>
                <a:srgbClr val="2C3E50"/>
              </a:solidFill>
              <a:latin typeface="Source Sans Pro Semibold"/>
            </a:endParaRPr>
          </a:p>
        </p:txBody>
      </p:sp>
    </p:spTree>
  </p:cSld>
  <p:clrMapOvr>
    <a:masterClrMapping/>
  </p:clrMapOvr>
  <p:transition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buNone/>
            </a:pPr>
            <a:r>
              <a:rPr lang="x-none" sz="2700" b="1" strike="noStrike" spc="-1">
                <a:solidFill>
                  <a:srgbClr val="2C3E50"/>
                </a:solidFill>
                <a:latin typeface="Source Sans Pro Black"/>
              </a:rPr>
              <a:t>Hvala na pažnji!</a:t>
            </a:r>
            <a:endParaRPr lang="en-US" sz="2700" b="1" strike="noStrike" spc="-1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34AE043-1664-4220-86A0-D03A8BF51730}" type="slidenum">
              <a:rPr/>
              <a:pPr/>
              <a:t>28</a:t>
            </a:fld>
            <a:endParaRPr/>
          </a:p>
        </p:txBody>
      </p:sp>
    </p:spTree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1524</Words>
  <Application>LibreOffice/7.3.2.2$Windows_X86_64 LibreOffice_project/49f2b1bff42cfccbd8f788c8dc32c1c309559be0</Application>
  <PresentationFormat>Custom</PresentationFormat>
  <Paragraphs>172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Office Theme</vt:lpstr>
      <vt:lpstr>Office Theme</vt:lpstr>
      <vt:lpstr>Office Theme</vt:lpstr>
      <vt:lpstr>Office Theme</vt:lpstr>
      <vt:lpstr>OBRADA FENOMENA INTERNIH I EKSTERNIH ODNOSA SA JAVNOŠĆU</vt:lpstr>
      <vt:lpstr>SADRŽAJ</vt:lpstr>
      <vt:lpstr>ŠTA SU ODNOSI SA JAVNOŠĆU?</vt:lpstr>
      <vt:lpstr>ŠTA JE INTERNA KOMUNIKACIJA?</vt:lpstr>
      <vt:lpstr>ŠTA JE INTERNA KOMUNIKACIJA?</vt:lpstr>
      <vt:lpstr>ULOGA INTERNE KOMUNIKACIJE</vt:lpstr>
      <vt:lpstr>ULOGA INTERNE KOMUNIKACIJE</vt:lpstr>
      <vt:lpstr>STRATEGIJA INTERNE KOMUNIKACIJE</vt:lpstr>
      <vt:lpstr>STRATEGIJA INTERNE KOMUNIKACIJE</vt:lpstr>
      <vt:lpstr>STRATEGIJA INTERNE KOMUNIKACIJE</vt:lpstr>
      <vt:lpstr>STRATEGIJA INTERNE KOMUNIKACIJE</vt:lpstr>
      <vt:lpstr>ZNAČAJ INTERNE KOMUNIKACIJE</vt:lpstr>
      <vt:lpstr>KADA JE POŽELJNO IZVRŠITI KAMPANJU ZA INTERNI PR?</vt:lpstr>
      <vt:lpstr>ŠTA PRUŽA DOBRA INTERNA KOMUNIKACIJA?</vt:lpstr>
      <vt:lpstr>ŠTA JE EKSTERNA KOMUNIKACIJA?</vt:lpstr>
      <vt:lpstr>ŠTA JE EKSTERNA KOMUNIKACIJA?</vt:lpstr>
      <vt:lpstr>ISTORIJA EKSTERNE KOMUNIKACIJE</vt:lpstr>
      <vt:lpstr>ŠTA JE JAVNO MNJENJE?</vt:lpstr>
      <vt:lpstr>PROMENA SREDSTAVA ZA JAVNO MNJENJE KROZ GODINE</vt:lpstr>
      <vt:lpstr>ULOGA EKSTERNE KOMUNIKACIJE</vt:lpstr>
      <vt:lpstr>STRATEGIJA EKSTERNE KOMUNIKACIJE</vt:lpstr>
      <vt:lpstr>ANALIZIRANJE TRENUTNE SITUACIJE </vt:lpstr>
      <vt:lpstr>ZNAČAJ EKSTERNE KOMUNIKACIJE</vt:lpstr>
      <vt:lpstr>ŠTA DOBRA EKSTERNA KOMUNIKACIJA PRUŽA?</vt:lpstr>
      <vt:lpstr>RAZLIKE INTERNE I EKSTERNE KOMUNIKACIJE</vt:lpstr>
      <vt:lpstr>PREDNOSTI UJEDINJENE INTERNE I EKSTERNE KOMUNIKACIJE</vt:lpstr>
      <vt:lpstr>REZIME</vt:lpstr>
      <vt:lpstr>Hvala na pažnji!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subject/>
  <dc:creator/>
  <dc:description/>
  <cp:lastModifiedBy>Zackle 99</cp:lastModifiedBy>
  <cp:revision>36</cp:revision>
  <dcterms:created xsi:type="dcterms:W3CDTF">2022-05-04T10:50:51Z</dcterms:created>
  <dcterms:modified xsi:type="dcterms:W3CDTF">2022-05-25T18:11:00Z</dcterms:modified>
  <dc:language>en-US</dc:language>
</cp:coreProperties>
</file>